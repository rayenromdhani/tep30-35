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Tunisia generates almost all its electricity from gas and plans 35% renewables by 2030. This study asks what saving electricity, or moving it in time, is worth to that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metric compares two least-cost 2030 systems that both meet the 35% target and a 10% reserve margin. The only difference is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Calibration matters because PyPSA-Earth's open plant list overstated combined-cycle capacity and missed the gas turbines. After the fix the 2024 model matches official capacity, gas burnt and 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the first 10% saved is worth the most per MWh: it carries all of the avoided gas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Cooling load is defined as summer load above the shoulder-month average for the same hour of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is about 74,000 EUR per MW per year. Under the reserve rule flexibility gets no capacity credit, so all of this value is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the base gas price the least-cost system reaches 56% renewables, so the 35% target binds only in G-lo-S0, G-lo-S1-15.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Code, data sources and full results are in the GitHub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The value of energy efficiency in Tunisia's power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EDA100"/>
                </a:solidFill>
                <a:latin typeface="Calibri"/>
              </a:rPr>
              <a:t>What each MWh saved avoids in 2030, under the 35% renewable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Rayen Romdhani, Energy Engineering, ENIM (Monastir, Tunisia)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PyPSA-Earth capacity-expansion model, 2 nodes, 8,760 hours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1F1F"/>
                </a:solidFill>
                <a:latin typeface="Cambria"/>
              </a:rPr>
              <a:t>Each MWh saved avoids about 60 EUR of system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6B6A66"/>
                </a:solidFill>
                <a:latin typeface="Calibri"/>
              </a:rPr>
              <a:t>Saving 15% of 2030 demand in every hour (S1-15 against the base case S0), per MWh saved: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7323B"/>
                </a:solidFill>
                <a:latin typeface="Cambria"/>
              </a:rPr>
              <a:t>60 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79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of system cost (investment + operation)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2860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560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7323B"/>
                </a:solidFill>
                <a:latin typeface="Cambria"/>
              </a:rPr>
              <a:t>0.91 MWh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383279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of gas burnt for 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7323B"/>
                </a:solidFill>
                <a:latin typeface="Cambria"/>
              </a:rPr>
              <a:t>0.18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79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of CO2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2860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560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7323B"/>
                </a:solidFill>
                <a:latin typeface="Cambria"/>
              </a:rPr>
              <a:t>449 MW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383279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of new capacity per TWh saved per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F1F"/>
                </a:solidFill>
                <a:latin typeface="Calibri"/>
              </a:rPr>
              <a:t>The avoided cost is close to the average power price (55 EUR/MWh) plus the gas turbines the saving makes unnecessary.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A66"/>
                </a:solidFill>
                <a:latin typeface="Calibri"/>
              </a:rPr>
              <a:t>Source: own PyPSA-Earth model of Tunisia 2030; inputs in data/assumptions_register.xlsx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1F1F"/>
                </a:solidFill>
                <a:latin typeface="Cambria"/>
              </a:rPr>
              <a:t>An open model, calibrated to 2024, then solved for 2030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731520" cy="731520"/>
          </a:xfrm>
          <a:prstGeom prst="ellipse">
            <a:avLst/>
          </a:prstGeom>
          <a:solidFill>
            <a:srgbClr val="17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1F1F"/>
                </a:solidFill>
                <a:latin typeface="Cambria"/>
              </a:rPr>
              <a:t>Base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PyPSA-Earth builds Tunisia's grid, plants, solar and wind potential and hourly demand from open data</a:t>
            </a:r>
          </a:p>
        </p:txBody>
      </p:sp>
      <p:sp>
        <p:nvSpPr>
          <p:cNvPr id="6" name="Oval 5"/>
          <p:cNvSpPr/>
          <p:nvPr/>
        </p:nvSpPr>
        <p:spPr>
          <a:xfrm>
            <a:off x="3383280" y="1737360"/>
            <a:ext cx="731520" cy="731520"/>
          </a:xfrm>
          <a:prstGeom prst="ellipse">
            <a:avLst/>
          </a:prstGeom>
          <a:solidFill>
            <a:srgbClr val="17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1F1F"/>
                </a:solidFill>
                <a:latin typeface="Cambria"/>
              </a:rPr>
              <a:t>2024 calibration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20040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Official ONEM fleet; one efficiency factor fitted so gas burnt matches STEG within 0.4%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1737360"/>
            <a:ext cx="731520" cy="731520"/>
          </a:xfrm>
          <a:prstGeom prst="ellipse">
            <a:avLst/>
          </a:prstGeom>
          <a:solidFill>
            <a:srgbClr val="17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1F1F"/>
                </a:solidFill>
                <a:latin typeface="Cambria"/>
              </a:rPr>
              <a:t>11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0040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Demand cut 10%-20%, cooling-first saving, shiftable load, gas price x0.5 and x1.5</a:t>
            </a:r>
          </a:p>
        </p:txBody>
      </p:sp>
      <p:sp>
        <p:nvSpPr>
          <p:cNvPr id="12" name="Oval 11"/>
          <p:cNvSpPr/>
          <p:nvPr/>
        </p:nvSpPr>
        <p:spPr>
          <a:xfrm>
            <a:off x="9052560" y="1737360"/>
            <a:ext cx="731520" cy="731520"/>
          </a:xfrm>
          <a:prstGeom prst="ellipse">
            <a:avLst/>
          </a:prstGeom>
          <a:solidFill>
            <a:srgbClr val="17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1F1F"/>
                </a:solidFill>
                <a:latin typeface="Cambria"/>
              </a:rPr>
              <a:t>Least-cost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20040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New solar, wind, batteries and gas; at least 35% renewable and 10% reserve in every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B6A66"/>
                </a:solidFill>
                <a:latin typeface="Calibri"/>
              </a:rPr>
              <a:t>Every input number has a row and a source in the assumptions register. All 11 runs pass the post-solve checks.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A66"/>
                </a:solidFill>
                <a:latin typeface="Calibri"/>
              </a:rPr>
              <a:t>Source: own PyPSA-Earth model of Tunisia 2030; inputs in data/assumptions_register.xlsx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1F1F"/>
                </a:solidFill>
                <a:latin typeface="Cambria"/>
              </a:rPr>
              <a:t>A 10% saving removes the need for new gas plant</a:t>
            </a:r>
          </a:p>
        </p:txBody>
      </p:sp>
      <p:pic>
        <p:nvPicPr>
          <p:cNvPr id="3" name="Picture 2" descr="1_capacity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863840" cy="357447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03920" y="1463040"/>
            <a:ext cx="3200400" cy="420624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6459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7323B"/>
                </a:solidFill>
                <a:latin typeface="Cambria"/>
              </a:rPr>
              <a:t>423 MW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4688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of new gas turbines in the base case, to keep a 10% reserve above the 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35661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Every efficiency scenario avoids all of it. Further savings then avoid mostly solar and wind that would otherwise be built.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A66"/>
                </a:solidFill>
                <a:latin typeface="Calibri"/>
              </a:rPr>
              <a:t>Source: own PyPSA-Earth model of Tunisia 2030; inputs in data/assumptions_register.xlsx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1F1F"/>
                </a:solidFill>
                <a:latin typeface="Cambria"/>
              </a:rPr>
              <a:t>Saving during air-conditioning hours is worth more</a:t>
            </a:r>
          </a:p>
        </p:txBody>
      </p:sp>
      <p:pic>
        <p:nvPicPr>
          <p:cNvPr id="3" name="Picture 2" descr="9_uniform_vs_coo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3688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596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F1F"/>
                </a:solidFill>
                <a:latin typeface="Calibri"/>
              </a:rPr>
              <a:t>Only 39% of the 15% saving fits on the summer cooling load, yet it avoids 20% more gas and CO2 per MWh than an even cut: those are the hours when gas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A66"/>
                </a:solidFill>
                <a:latin typeface="Calibri"/>
              </a:rPr>
              <a:t>Source: own PyPSA-Earth model of Tunisia 2030; inputs in data/assumptions_register.xlsx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1F1F"/>
                </a:solidFill>
                <a:latin typeface="Cambria"/>
              </a:rPr>
              <a:t>Shifting load by up to 3 hours adds to efficiency</a:t>
            </a:r>
          </a:p>
        </p:txBody>
      </p:sp>
      <p:pic>
        <p:nvPicPr>
          <p:cNvPr id="3" name="Picture 2" descr="7_dispatch_peak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012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F1F"/>
                </a:solidFill>
                <a:latin typeface="Calibri"/>
              </a:rPr>
              <a:t>300 MW of shiftable load saves another 22 M EUR and 0.24 Mt of CO2 per year, by moving morning and evening load into midday solar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A66"/>
                </a:solidFill>
                <a:latin typeface="Calibri"/>
              </a:rPr>
              <a:t>Source: own PyPSA-Earth model of Tunisia 2030; inputs in data/assumptions_register.xlsx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1F1F"/>
                </a:solidFill>
                <a:latin typeface="Cambria"/>
              </a:rPr>
              <a:t>The gas price decides what a saved MWh displaces</a:t>
            </a:r>
          </a:p>
        </p:txBody>
      </p:sp>
      <p:pic>
        <p:nvPicPr>
          <p:cNvPr id="3" name="Picture 2" descr="8_avoided_per_mw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88720"/>
            <a:ext cx="10058400" cy="3868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148775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F1F"/>
                </a:solidFill>
                <a:latin typeface="Calibri"/>
              </a:rPr>
              <a:t>Cheap gas: each MWh saved avoids 0.28 t of CO2. Expensive gas: the system is already 70% renewable, so it avoids only 0.11 t of CO2 but 70 EUR of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A66"/>
                </a:solidFill>
                <a:latin typeface="Calibri"/>
              </a:rPr>
              <a:t>Source: own PyPSA-Earth model of Tunisia 2030; inputs in data/assumptions_register.xlsx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What the numbers mean, and 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DA100"/>
                </a:solidFill>
                <a:latin typeface="Cambria"/>
              </a:rPr>
              <a:t>Read with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Least cost, not a forecast: no limit on how fast renewables are built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Programme costs not modelled: the avoided cost is a ceiling on what a programme may cost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One weather year; imports flat at their 2024 level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Demand growth from STEG's forecast as quoted by JICA (2022)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DA100"/>
                </a:solidFill>
                <a:latin typeface="Cambria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Add the ELMED link to Italy as a scenario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Cap the yearly renewable build rate with a sourced limit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Compare the avoided cost with the cost of real efficiency programmes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8C4C7"/>
                </a:solidFill>
                <a:latin typeface="Calibri"/>
              </a:rPr>
              <a:t>Source: own PyPSA-Earth model of Tunisia 2030; inputs in data/assumptions_register.xlsx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value of energy efficiency in Tunisia's power system</dc:title>
  <dc:subject/>
  <dc:creator>Rayen Romdhani</dc:creator>
  <cp:keywords/>
  <dc:description/>
  <cp:lastModifiedBy>Rayen Romdhani</cp:lastModifiedBy>
  <cp:revision>1</cp:revision>
  <dcterms:created xsi:type="dcterms:W3CDTF">2026-10-28T22:16:59Z</dcterms:created>
  <dcterms:modified xsi:type="dcterms:W3CDTF">2026-10-28T22:16:59Z</dcterms:modified>
  <cp:category/>
</cp:coreProperties>
</file>